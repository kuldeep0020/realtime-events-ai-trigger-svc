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png"/><Relationship Id="rId24" Type="http://schemas.openxmlformats.org/officeDocument/2006/relationships/image" Target="../media/image-5-24.png"/><Relationship Id="rId25" Type="http://schemas.openxmlformats.org/officeDocument/2006/relationships/image" Target="../media/image-5-25.png"/><Relationship Id="rId26" Type="http://schemas.openxmlformats.org/officeDocument/2006/relationships/image" Target="../media/image-5-26.png"/><Relationship Id="rId27" Type="http://schemas.openxmlformats.org/officeDocument/2006/relationships/image" Target="../media/image-5-27.png"/><Relationship Id="rId28" Type="http://schemas.openxmlformats.org/officeDocument/2006/relationships/image" Target="../media/image-5-28.png"/><Relationship Id="rId29" Type="http://schemas.openxmlformats.org/officeDocument/2006/relationships/image" Target="../media/image-5-29.png"/><Relationship Id="rId30" Type="http://schemas.openxmlformats.org/officeDocument/2006/relationships/image" Target="../media/image-5-30.png"/><Relationship Id="rId31" Type="http://schemas.openxmlformats.org/officeDocument/2006/relationships/image" Target="../media/image-5-31.png"/><Relationship Id="rId32" Type="http://schemas.openxmlformats.org/officeDocument/2006/relationships/image" Target="../media/image-5-32.png"/><Relationship Id="rId33" Type="http://schemas.openxmlformats.org/officeDocument/2006/relationships/image" Target="../media/image-5-33.png"/><Relationship Id="rId34" Type="http://schemas.openxmlformats.org/officeDocument/2006/relationships/slideLayout" Target="../slideLayouts/slideLayout1.xml"/><Relationship Id="rId3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RUDDERSTACK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0812780" y="3497580"/>
            <a:ext cx="320040" cy="320040"/>
          </a:xfrm>
          <a:prstGeom prst="ellipse">
            <a:avLst/>
          </a:prstGeom>
          <a:solidFill>
            <a:srgbClr val="7C3AED">
              <a:alpha val="30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0" y="3383280"/>
            <a:ext cx="548640" cy="548640"/>
          </a:xfrm>
          <a:prstGeom prst="ellipse">
            <a:avLst/>
          </a:prstGeom>
          <a:solidFill>
            <a:srgbClr val="7C3AED">
              <a:alpha val="25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84180" y="3268980"/>
            <a:ext cx="777240" cy="77724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69880" y="3154680"/>
            <a:ext cx="1005840" cy="100584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55580" y="3040380"/>
            <a:ext cx="1234440" cy="1234440"/>
          </a:xfrm>
          <a:prstGeom prst="ellipse">
            <a:avLst/>
          </a:prstGeom>
          <a:solidFill>
            <a:srgbClr val="7C3AED">
              <a:alpha val="10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3072" y="3547872"/>
            <a:ext cx="219456" cy="21945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774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Events AI Triggers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event streams </a:t>
            </a:r>
            <a:pPr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in-the-moment outcomes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real-time, AI-personalized action layer for the streaming events you already collect.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989320"/>
            <a:ext cx="1554480" cy="384048"/>
          </a:xfrm>
          <a:prstGeom prst="rect">
            <a:avLst/>
          </a:prstGeom>
          <a:solidFill>
            <a:srgbClr val="13182B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5989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59893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Kuldeep Kumar  ·  RudderStack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stream events. They can't reason over the last few minutes of them.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pipelines deliver events. Warehouse audiences segment customers over weeks. There's nothing in between that holds short-term memory of a session, watches for live patterns, and acts in seconds — so teams stitch it together with brittle scripts and miss the moment.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3017520" cy="3383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834640"/>
            <a:ext cx="3017520" cy="7315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63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47472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see anonymous high-intent visitors leave every day. By the time tomorrow's report runs, they're gone.”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22960" y="5349240"/>
            <a:ext cx="24688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42239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5669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conversions you can never re-attribute.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2834640"/>
            <a:ext cx="3017520" cy="3383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834640"/>
            <a:ext cx="30175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3063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SUCCESS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47472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whale browsed our pricing page yesterday. We found out at next week's QBR — too late to call.”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4846320" y="5349240"/>
            <a:ext cx="24688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542239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5669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Deals sized in the room, not in real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595360" y="2834640"/>
            <a:ext cx="3017520" cy="3383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595360" y="2834640"/>
            <a:ext cx="3017520" cy="73152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3063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0" y="347472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churn at the destination-connect step. Every error needs a different fix; we can't follow up on each one.”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8869680" y="5349240"/>
            <a:ext cx="24688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0" y="542239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869680" y="5669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Drop-off the moment users hit friction.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moments worth catching. One engine catches them all.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703320" cy="2240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783080"/>
            <a:ext cx="64008" cy="22402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947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anonymous high-intent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56032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Visitor narrows filters, opens 3 listings, idles. Fire an in-app banner offering a tour or chat — before they leave the site, while they're still on it.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" y="3657600"/>
            <a:ext cx="203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capture moment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676906" y="3657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Marketing pain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703320" cy="2240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97680" y="1783080"/>
            <a:ext cx="64008" cy="2240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011680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74920" y="1947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sales / CS on known engagement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26280" y="256032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Logged-in customer revisits pricing. Slack the right account owner with full context: name, ARR, prior interactions, the page they're dwelling on.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26280" y="3657600"/>
            <a:ext cx="203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human handoff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471666" y="3657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Customer Success pain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092440" y="1783080"/>
            <a:ext cx="3703320" cy="2240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92440" y="1783080"/>
            <a:ext cx="64008" cy="2240280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11680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869680" y="1947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Rescue stuck onboarding errors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321040" y="256032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error fires. We send a personalized fix email referencing the exact error code, the destination type, and the customer's stack — not a generic FAQ.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321040" y="3657600"/>
            <a:ext cx="203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per error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10266426" y="36576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Onboarding pain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502920" y="4114800"/>
            <a:ext cx="3703320" cy="2240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02920" y="4114800"/>
            <a:ext cx="64008" cy="2240280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343400"/>
            <a:ext cx="384048" cy="38404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80160" y="42793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Re-engage stalled multi-step flows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731520" y="489204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created a source but never connected a destination. After idle, an email referencing their progress and tech stack — not a generic nudge.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731520" y="5989320"/>
            <a:ext cx="203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Mid-funnel context-aware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2676906" y="598932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Onboarding pain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297680" y="4114800"/>
            <a:ext cx="3703320" cy="2240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97680" y="4114800"/>
            <a:ext cx="64008" cy="2240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343400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074920" y="42793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events from event patterns</a:t>
            </a:r>
            <a:endParaRPr lang="en-US" sz="1400" dirty="0"/>
          </a:p>
        </p:txBody>
      </p:sp>
      <p:sp>
        <p:nvSpPr>
          <p:cNvPr id="36" name="Text 29"/>
          <p:cNvSpPr/>
          <p:nvPr/>
        </p:nvSpPr>
        <p:spPr>
          <a:xfrm>
            <a:off x="4526280" y="489204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 a new derived event when a pattern matches — e.g., "high_intent_session" when 3 listings + a filter + 8s idle. Feeds back into the same SDK / warehouse.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4526280" y="5989320"/>
            <a:ext cx="203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hooks on patterns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6471666" y="598932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Platform extensibility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8092440" y="4114800"/>
            <a:ext cx="3703320" cy="22402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8092440" y="4114800"/>
            <a:ext cx="64008" cy="22402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4343400"/>
            <a:ext cx="384048" cy="38404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8869680" y="42793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context API</a:t>
            </a:r>
            <a:endParaRPr lang="en-US" sz="1400" dirty="0"/>
          </a:p>
        </p:txBody>
      </p:sp>
      <p:sp>
        <p:nvSpPr>
          <p:cNvPr id="43" name="Text 35"/>
          <p:cNvSpPr/>
          <p:nvPr/>
        </p:nvSpPr>
        <p:spPr>
          <a:xfrm>
            <a:off x="8321040" y="4892040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"what did this user do in the last 10 minutes?" — short-term memory exposed as a query, so agents and apps can reason over live behavior, not yesterday's batch.</a:t>
            </a:r>
            <a:endParaRPr lang="en-US" sz="1100" dirty="0"/>
          </a:p>
        </p:txBody>
      </p:sp>
      <p:sp>
        <p:nvSpPr>
          <p:cNvPr id="44" name="Text 36"/>
          <p:cNvSpPr/>
          <p:nvPr/>
        </p:nvSpPr>
        <p:spPr>
          <a:xfrm>
            <a:off x="8321040" y="5989320"/>
            <a:ext cx="203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session lookup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266426" y="598932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Agent / app context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548640" y="6537960"/>
            <a:ext cx="11064240" cy="292608"/>
          </a:xfrm>
          <a:prstGeom prst="rect">
            <a:avLst/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47" name="Text 39"/>
          <p:cNvSpPr/>
          <p:nvPr/>
        </p:nvSpPr>
        <p:spPr>
          <a:xfrm>
            <a:off x="777240" y="65379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single-event "webhook on event X" patterns you'd otherwise wire by hand in Transformer — same engine, no new plumbing.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5-stage pipeline. Stateful. Plug-in.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1920240" cy="1554480"/>
          </a:xfrm>
          <a:prstGeom prst="rect">
            <a:avLst/>
          </a:prstGeom>
          <a:solidFill>
            <a:srgbClr val="13182B"/>
          </a:solidFill>
          <a:ln w="25400">
            <a:solidFill>
              <a:srgbClr val="60A5FA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Pulsar / SDK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6312" y="2724912"/>
            <a:ext cx="27432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697480" y="2011680"/>
            <a:ext cx="1920240" cy="1554480"/>
          </a:xfrm>
          <a:prstGeom prst="rect">
            <a:avLst/>
          </a:prstGeom>
          <a:solidFill>
            <a:srgbClr val="13182B"/>
          </a:solidFill>
          <a:ln w="25400">
            <a:solidFill>
              <a:srgbClr val="34D399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74320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74320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state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724912"/>
            <a:ext cx="274320" cy="2743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00600" y="2011680"/>
            <a:ext cx="1920240" cy="1554480"/>
          </a:xfrm>
          <a:prstGeom prst="rect">
            <a:avLst/>
          </a:prstGeom>
          <a:solidFill>
            <a:srgbClr val="13182B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84632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84632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DSL: all/any/not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2724912"/>
            <a:ext cx="274320" cy="2743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903720" y="2011680"/>
            <a:ext cx="1920240" cy="1554480"/>
          </a:xfrm>
          <a:prstGeom prst="rect">
            <a:avLst/>
          </a:prstGeom>
          <a:solidFill>
            <a:srgbClr val="13182B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94944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Enrichment+LLM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94944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 + canned</a:t>
            </a:r>
            <a:endParaRPr lang="en-US" sz="11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5672" y="2724912"/>
            <a:ext cx="274320" cy="27432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006840" y="2011680"/>
            <a:ext cx="1920240" cy="1554480"/>
          </a:xfrm>
          <a:prstGeom prst="rect">
            <a:avLst/>
          </a:prstGeom>
          <a:solidFill>
            <a:srgbClr val="13182B"/>
          </a:solidFill>
          <a:ln w="25400">
            <a:solidFill>
              <a:srgbClr val="FB718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905256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05256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/ Email / API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94360" y="402336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4142232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43000" y="40050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composable predicates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1143000" y="440740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window.idle_seconds, traits.known, has_event_name, AND/OR/NOT — fits any pattern.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4343400" y="402336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142232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40050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Templated AI actions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4892040" y="440740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and email fill {{trait.first_name}} and {{window.last_listing}} at fire time.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092440" y="4023360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312" y="4142232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641080" y="40050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Pluggable destinations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8641080" y="440740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+ email today. Swap LLM_MODE=live, plug your destination registry tomorrow.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48640" y="5989320"/>
            <a:ext cx="1106424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6126480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1554480" y="59893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→  3 concurrent visitors, two Slack pings, one personalized email, ~30 seconds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composes all six. We're the gap-filler.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788920" cy="502920"/>
          </a:xfrm>
          <a:prstGeom prst="rect">
            <a:avLst/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37560" y="2011680"/>
            <a:ext cx="1508760" cy="502920"/>
          </a:xfrm>
          <a:prstGeom prst="rect">
            <a:avLst/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20116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2011680"/>
            <a:ext cx="1508760" cy="502920"/>
          </a:xfrm>
          <a:prstGeom prst="rect">
            <a:avLst/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20116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Tealium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011680"/>
            <a:ext cx="1691640" cy="502920"/>
          </a:xfrm>
          <a:prstGeom prst="rect">
            <a:avLst/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116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Customer.io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1508760" cy="502920"/>
          </a:xfrm>
          <a:prstGeom prst="rect">
            <a:avLst/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20116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555480" y="2011680"/>
            <a:ext cx="20574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46920" y="2011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2514600"/>
            <a:ext cx="278892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5146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Single-event webhooks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37560" y="251460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3068" y="2633472"/>
            <a:ext cx="256032" cy="256032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846320" y="251460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8" y="2633472"/>
            <a:ext cx="256032" cy="25603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355080" y="2514600"/>
            <a:ext cx="169164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028" y="2633472"/>
            <a:ext cx="256032" cy="25603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046720" y="251460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2228" y="2633472"/>
            <a:ext cx="256032" cy="25603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9555480" y="2514600"/>
            <a:ext cx="2057400" cy="502920"/>
          </a:xfrm>
          <a:prstGeom prst="rect">
            <a:avLst/>
          </a:prstGeom>
          <a:solidFill>
            <a:srgbClr val="1B2238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5308" y="2633472"/>
            <a:ext cx="256032" cy="25603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548640" y="3017520"/>
            <a:ext cx="278892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31520" y="30175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 windowing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337560" y="301752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3068" y="3136392"/>
            <a:ext cx="256032" cy="25603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4846320" y="301752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1828" y="3136392"/>
            <a:ext cx="256032" cy="256032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6355080" y="3017520"/>
            <a:ext cx="169164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028" y="3136392"/>
            <a:ext cx="256032" cy="256032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8046720" y="301752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2228" y="3136392"/>
            <a:ext cx="256032" cy="256032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9555480" y="3017520"/>
            <a:ext cx="2057400" cy="502920"/>
          </a:xfrm>
          <a:prstGeom prst="rect">
            <a:avLst/>
          </a:prstGeom>
          <a:solidFill>
            <a:srgbClr val="1B2238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65308" y="3136392"/>
            <a:ext cx="256032" cy="256032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548640" y="3520440"/>
            <a:ext cx="278892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1" name="Text 29"/>
          <p:cNvSpPr/>
          <p:nvPr/>
        </p:nvSpPr>
        <p:spPr>
          <a:xfrm>
            <a:off x="731520" y="35204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/ dwell predicates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3337560" y="352044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73068" y="3639312"/>
            <a:ext cx="256032" cy="256032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4846320" y="352044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1828" y="3639312"/>
            <a:ext cx="256032" cy="256032"/>
          </a:xfrm>
          <a:prstGeom prst="rect">
            <a:avLst/>
          </a:prstGeom>
        </p:spPr>
      </p:pic>
      <p:sp>
        <p:nvSpPr>
          <p:cNvPr id="46" name="Shape 32"/>
          <p:cNvSpPr/>
          <p:nvPr/>
        </p:nvSpPr>
        <p:spPr>
          <a:xfrm>
            <a:off x="6355080" y="3520440"/>
            <a:ext cx="169164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4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2028" y="3639312"/>
            <a:ext cx="256032" cy="256032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8046720" y="352044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82228" y="3639312"/>
            <a:ext cx="256032" cy="256032"/>
          </a:xfrm>
          <a:prstGeom prst="rect">
            <a:avLst/>
          </a:prstGeom>
        </p:spPr>
      </p:pic>
      <p:sp>
        <p:nvSpPr>
          <p:cNvPr id="50" name="Shape 34"/>
          <p:cNvSpPr/>
          <p:nvPr/>
        </p:nvSpPr>
        <p:spPr>
          <a:xfrm>
            <a:off x="9555480" y="3520440"/>
            <a:ext cx="2057400" cy="502920"/>
          </a:xfrm>
          <a:prstGeom prst="rect">
            <a:avLst/>
          </a:prstGeom>
          <a:solidFill>
            <a:srgbClr val="1B2238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5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65308" y="3639312"/>
            <a:ext cx="256032" cy="256032"/>
          </a:xfrm>
          <a:prstGeom prst="rect">
            <a:avLst/>
          </a:prstGeom>
        </p:spPr>
      </p:pic>
      <p:sp>
        <p:nvSpPr>
          <p:cNvPr id="52" name="Shape 35"/>
          <p:cNvSpPr/>
          <p:nvPr/>
        </p:nvSpPr>
        <p:spPr>
          <a:xfrm>
            <a:off x="548640" y="4023360"/>
            <a:ext cx="278892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3" name="Text 36"/>
          <p:cNvSpPr/>
          <p:nvPr/>
        </p:nvSpPr>
        <p:spPr>
          <a:xfrm>
            <a:off x="731520" y="4023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Anonymous-intent action</a:t>
            </a:r>
            <a:endParaRPr lang="en-US" sz="1300" dirty="0"/>
          </a:p>
        </p:txBody>
      </p:sp>
      <p:sp>
        <p:nvSpPr>
          <p:cNvPr id="54" name="Shape 37"/>
          <p:cNvSpPr/>
          <p:nvPr/>
        </p:nvSpPr>
        <p:spPr>
          <a:xfrm>
            <a:off x="3337560" y="402336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5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73068" y="4142232"/>
            <a:ext cx="256032" cy="256032"/>
          </a:xfrm>
          <a:prstGeom prst="rect">
            <a:avLst/>
          </a:prstGeom>
        </p:spPr>
      </p:pic>
      <p:sp>
        <p:nvSpPr>
          <p:cNvPr id="56" name="Shape 38"/>
          <p:cNvSpPr/>
          <p:nvPr/>
        </p:nvSpPr>
        <p:spPr>
          <a:xfrm>
            <a:off x="4846320" y="402336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5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81828" y="4142232"/>
            <a:ext cx="256032" cy="256032"/>
          </a:xfrm>
          <a:prstGeom prst="rect">
            <a:avLst/>
          </a:prstGeom>
        </p:spPr>
      </p:pic>
      <p:sp>
        <p:nvSpPr>
          <p:cNvPr id="58" name="Shape 39"/>
          <p:cNvSpPr/>
          <p:nvPr/>
        </p:nvSpPr>
        <p:spPr>
          <a:xfrm>
            <a:off x="6355080" y="4023360"/>
            <a:ext cx="169164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5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82028" y="4142232"/>
            <a:ext cx="256032" cy="256032"/>
          </a:xfrm>
          <a:prstGeom prst="rect">
            <a:avLst/>
          </a:prstGeom>
        </p:spPr>
      </p:pic>
      <p:sp>
        <p:nvSpPr>
          <p:cNvPr id="60" name="Shape 40"/>
          <p:cNvSpPr/>
          <p:nvPr/>
        </p:nvSpPr>
        <p:spPr>
          <a:xfrm>
            <a:off x="8046720" y="402336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6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2228" y="4142232"/>
            <a:ext cx="256032" cy="256032"/>
          </a:xfrm>
          <a:prstGeom prst="rect">
            <a:avLst/>
          </a:prstGeom>
        </p:spPr>
      </p:pic>
      <p:sp>
        <p:nvSpPr>
          <p:cNvPr id="62" name="Shape 41"/>
          <p:cNvSpPr/>
          <p:nvPr/>
        </p:nvSpPr>
        <p:spPr>
          <a:xfrm>
            <a:off x="9555480" y="4023360"/>
            <a:ext cx="2057400" cy="502920"/>
          </a:xfrm>
          <a:prstGeom prst="rect">
            <a:avLst/>
          </a:prstGeom>
          <a:solidFill>
            <a:srgbClr val="1B2238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6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465308" y="4142232"/>
            <a:ext cx="256032" cy="256032"/>
          </a:xfrm>
          <a:prstGeom prst="rect">
            <a:avLst/>
          </a:prstGeom>
        </p:spPr>
      </p:pic>
      <p:sp>
        <p:nvSpPr>
          <p:cNvPr id="64" name="Shape 42"/>
          <p:cNvSpPr/>
          <p:nvPr/>
        </p:nvSpPr>
        <p:spPr>
          <a:xfrm>
            <a:off x="548640" y="4526280"/>
            <a:ext cx="278892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5" name="Text 43"/>
          <p:cNvSpPr/>
          <p:nvPr/>
        </p:nvSpPr>
        <p:spPr>
          <a:xfrm>
            <a:off x="731520" y="45262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LLM-personalized content</a:t>
            </a:r>
            <a:endParaRPr lang="en-US" sz="1300" dirty="0"/>
          </a:p>
        </p:txBody>
      </p:sp>
      <p:sp>
        <p:nvSpPr>
          <p:cNvPr id="66" name="Shape 44"/>
          <p:cNvSpPr/>
          <p:nvPr/>
        </p:nvSpPr>
        <p:spPr>
          <a:xfrm>
            <a:off x="3337560" y="452628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67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973068" y="4645152"/>
            <a:ext cx="256032" cy="256032"/>
          </a:xfrm>
          <a:prstGeom prst="rect">
            <a:avLst/>
          </a:prstGeom>
        </p:spPr>
      </p:pic>
      <p:sp>
        <p:nvSpPr>
          <p:cNvPr id="68" name="Shape 45"/>
          <p:cNvSpPr/>
          <p:nvPr/>
        </p:nvSpPr>
        <p:spPr>
          <a:xfrm>
            <a:off x="4846320" y="452628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69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81828" y="4645152"/>
            <a:ext cx="256032" cy="256032"/>
          </a:xfrm>
          <a:prstGeom prst="rect">
            <a:avLst/>
          </a:prstGeom>
        </p:spPr>
      </p:pic>
      <p:sp>
        <p:nvSpPr>
          <p:cNvPr id="70" name="Shape 46"/>
          <p:cNvSpPr/>
          <p:nvPr/>
        </p:nvSpPr>
        <p:spPr>
          <a:xfrm>
            <a:off x="6355080" y="4526280"/>
            <a:ext cx="169164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71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082028" y="4645152"/>
            <a:ext cx="256032" cy="256032"/>
          </a:xfrm>
          <a:prstGeom prst="rect">
            <a:avLst/>
          </a:prstGeom>
        </p:spPr>
      </p:pic>
      <p:sp>
        <p:nvSpPr>
          <p:cNvPr id="72" name="Shape 47"/>
          <p:cNvSpPr/>
          <p:nvPr/>
        </p:nvSpPr>
        <p:spPr>
          <a:xfrm>
            <a:off x="8046720" y="4526280"/>
            <a:ext cx="1508760" cy="502920"/>
          </a:xfrm>
          <a:prstGeom prst="rect">
            <a:avLst/>
          </a:prstGeom>
          <a:solidFill>
            <a:srgbClr val="13182B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73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82228" y="4645152"/>
            <a:ext cx="256032" cy="256032"/>
          </a:xfrm>
          <a:prstGeom prst="rect">
            <a:avLst/>
          </a:prstGeom>
        </p:spPr>
      </p:pic>
      <p:sp>
        <p:nvSpPr>
          <p:cNvPr id="74" name="Shape 48"/>
          <p:cNvSpPr/>
          <p:nvPr/>
        </p:nvSpPr>
        <p:spPr>
          <a:xfrm>
            <a:off x="9555480" y="4526280"/>
            <a:ext cx="2057400" cy="502920"/>
          </a:xfrm>
          <a:prstGeom prst="rect">
            <a:avLst/>
          </a:prstGeom>
          <a:solidFill>
            <a:srgbClr val="1B2238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75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65308" y="4645152"/>
            <a:ext cx="256032" cy="256032"/>
          </a:xfrm>
          <a:prstGeom prst="rect">
            <a:avLst/>
          </a:prstGeom>
        </p:spPr>
      </p:pic>
      <p:sp>
        <p:nvSpPr>
          <p:cNvPr id="76" name="Shape 49"/>
          <p:cNvSpPr/>
          <p:nvPr/>
        </p:nvSpPr>
        <p:spPr>
          <a:xfrm>
            <a:off x="548640" y="5029200"/>
            <a:ext cx="278892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7" name="Text 50"/>
          <p:cNvSpPr/>
          <p:nvPr/>
        </p:nvSpPr>
        <p:spPr>
          <a:xfrm>
            <a:off x="731520" y="5029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Pluggable destinations</a:t>
            </a:r>
            <a:endParaRPr lang="en-US" sz="1300" dirty="0"/>
          </a:p>
        </p:txBody>
      </p:sp>
      <p:sp>
        <p:nvSpPr>
          <p:cNvPr id="78" name="Shape 51"/>
          <p:cNvSpPr/>
          <p:nvPr/>
        </p:nvSpPr>
        <p:spPr>
          <a:xfrm>
            <a:off x="3337560" y="502920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7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973068" y="5148072"/>
            <a:ext cx="256032" cy="256032"/>
          </a:xfrm>
          <a:prstGeom prst="rect">
            <a:avLst/>
          </a:prstGeom>
        </p:spPr>
      </p:pic>
      <p:sp>
        <p:nvSpPr>
          <p:cNvPr id="80" name="Shape 52"/>
          <p:cNvSpPr/>
          <p:nvPr/>
        </p:nvSpPr>
        <p:spPr>
          <a:xfrm>
            <a:off x="4846320" y="502920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81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81828" y="5148072"/>
            <a:ext cx="256032" cy="256032"/>
          </a:xfrm>
          <a:prstGeom prst="rect">
            <a:avLst/>
          </a:prstGeom>
        </p:spPr>
      </p:pic>
      <p:sp>
        <p:nvSpPr>
          <p:cNvPr id="82" name="Shape 53"/>
          <p:cNvSpPr/>
          <p:nvPr/>
        </p:nvSpPr>
        <p:spPr>
          <a:xfrm>
            <a:off x="6355080" y="5029200"/>
            <a:ext cx="169164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8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082028" y="5148072"/>
            <a:ext cx="256032" cy="256032"/>
          </a:xfrm>
          <a:prstGeom prst="rect">
            <a:avLst/>
          </a:prstGeom>
        </p:spPr>
      </p:pic>
      <p:sp>
        <p:nvSpPr>
          <p:cNvPr id="84" name="Shape 54"/>
          <p:cNvSpPr/>
          <p:nvPr/>
        </p:nvSpPr>
        <p:spPr>
          <a:xfrm>
            <a:off x="8046720" y="5029200"/>
            <a:ext cx="1508760" cy="502920"/>
          </a:xfrm>
          <a:prstGeom prst="rect">
            <a:avLst/>
          </a:prstGeom>
          <a:solidFill>
            <a:srgbClr val="0B1020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85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682228" y="5148072"/>
            <a:ext cx="256032" cy="256032"/>
          </a:xfrm>
          <a:prstGeom prst="rect">
            <a:avLst/>
          </a:prstGeom>
        </p:spPr>
      </p:pic>
      <p:sp>
        <p:nvSpPr>
          <p:cNvPr id="86" name="Shape 55"/>
          <p:cNvSpPr/>
          <p:nvPr/>
        </p:nvSpPr>
        <p:spPr>
          <a:xfrm>
            <a:off x="9555480" y="5029200"/>
            <a:ext cx="2057400" cy="502920"/>
          </a:xfrm>
          <a:prstGeom prst="rect">
            <a:avLst/>
          </a:prstGeom>
          <a:solidFill>
            <a:srgbClr val="1B2238"/>
          </a:solidFill>
          <a:ln w="6350">
            <a:solidFill>
              <a:srgbClr val="334155"/>
            </a:solidFill>
            <a:prstDash val="solid"/>
          </a:ln>
        </p:spPr>
      </p:sp>
      <p:pic>
        <p:nvPicPr>
          <p:cNvPr id="87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465308" y="5148072"/>
            <a:ext cx="256032" cy="256032"/>
          </a:xfrm>
          <a:prstGeom prst="rect">
            <a:avLst/>
          </a:prstGeom>
        </p:spPr>
      </p:pic>
      <p:sp>
        <p:nvSpPr>
          <p:cNvPr id="88" name="Shape 56"/>
          <p:cNvSpPr/>
          <p:nvPr/>
        </p:nvSpPr>
        <p:spPr>
          <a:xfrm>
            <a:off x="548640" y="5532120"/>
            <a:ext cx="1106424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pic>
        <p:nvPicPr>
          <p:cNvPr id="8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8640" y="5650992"/>
            <a:ext cx="201168" cy="201168"/>
          </a:xfrm>
          <a:prstGeom prst="rect">
            <a:avLst/>
          </a:prstGeom>
        </p:spPr>
      </p:pic>
      <p:sp>
        <p:nvSpPr>
          <p:cNvPr id="90" name="Text 57"/>
          <p:cNvSpPr/>
          <p:nvPr/>
        </p:nvSpPr>
        <p:spPr>
          <a:xfrm>
            <a:off x="822960" y="56052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</a:t>
            </a:r>
            <a:endParaRPr lang="en-US" sz="1100" dirty="0"/>
          </a:p>
        </p:txBody>
      </p:sp>
      <p:pic>
        <p:nvPicPr>
          <p:cNvPr id="91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463040" y="5650992"/>
            <a:ext cx="201168" cy="201168"/>
          </a:xfrm>
          <a:prstGeom prst="rect">
            <a:avLst/>
          </a:prstGeom>
        </p:spPr>
      </p:pic>
      <p:sp>
        <p:nvSpPr>
          <p:cNvPr id="92" name="Text 58"/>
          <p:cNvSpPr/>
          <p:nvPr/>
        </p:nvSpPr>
        <p:spPr>
          <a:xfrm>
            <a:off x="1737360" y="56052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1100" dirty="0"/>
          </a:p>
        </p:txBody>
      </p:sp>
      <p:pic>
        <p:nvPicPr>
          <p:cNvPr id="93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468880" y="5650992"/>
            <a:ext cx="201168" cy="201168"/>
          </a:xfrm>
          <a:prstGeom prst="rect">
            <a:avLst/>
          </a:prstGeom>
        </p:spPr>
      </p:pic>
      <p:sp>
        <p:nvSpPr>
          <p:cNvPr id="94" name="Text 59"/>
          <p:cNvSpPr/>
          <p:nvPr/>
        </p:nvSpPr>
        <p:spPr>
          <a:xfrm>
            <a:off x="2743200" y="56052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supported</a:t>
            </a:r>
            <a:endParaRPr lang="en-US" sz="1100" dirty="0"/>
          </a:p>
        </p:txBody>
      </p:sp>
      <p:sp>
        <p:nvSpPr>
          <p:cNvPr id="95" name="Text 60"/>
          <p:cNvSpPr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 </a:t>
            </a:r>
            <a:pPr indent="0" marL="0">
              <a:buNone/>
            </a:pPr>
            <a:r>
              <a:rPr lang="en-US" sz="1300" i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tools each solve one or two of these. None compose all six into a single substrate — which is why customers DIY this with cron jobs and Looker.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code today. Production substrate tomorrow.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690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5486400" cy="4114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THIS WEEK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32888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24505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engine: 12 predicates, AND/OR/NOT, hot-reloadable from YAML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81528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29992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manager: idle/dwell/counters, sharded, 15-min retention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30168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3000" y="35478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Cooldowns + dedup so the same realtor isn't paged twice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78808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409651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Activation API (real-shape compatible — single flag swap)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727448"/>
            <a:ext cx="219456" cy="21945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43000" y="464515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Templated canned LLM responses + live local-agent fallback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276088"/>
            <a:ext cx="219456" cy="219456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43000" y="51937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 webhook + email outbox + onboarding wizard + dashboard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6263640" y="1828800"/>
            <a:ext cx="5486400" cy="4069080"/>
          </a:xfrm>
          <a:prstGeom prst="rect">
            <a:avLst/>
          </a:prstGeom>
          <a:solidFill>
            <a:srgbClr val="13182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6263640" y="1828800"/>
            <a:ext cx="548640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3"/>
          <p:cNvSpPr/>
          <p:nvPr/>
        </p:nvSpPr>
        <p:spPr>
          <a:xfrm>
            <a:off x="649224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ROADMAP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6537960" y="253288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2587752"/>
            <a:ext cx="128016" cy="12801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858000" y="24505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+ horizontal scaling (consumer per tenant)</a:t>
            </a:r>
            <a:endParaRPr lang="en-US" sz="1200" dirty="0"/>
          </a:p>
        </p:txBody>
      </p:sp>
      <p:sp>
        <p:nvSpPr>
          <p:cNvPr id="25" name="Shape 16"/>
          <p:cNvSpPr/>
          <p:nvPr/>
        </p:nvSpPr>
        <p:spPr>
          <a:xfrm>
            <a:off x="6537960" y="308152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136392"/>
            <a:ext cx="128016" cy="12801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858000" y="29992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LLM mode — BYOK or platform-managed, with caching</a:t>
            </a:r>
            <a:endParaRPr lang="en-US" sz="1200" dirty="0"/>
          </a:p>
        </p:txBody>
      </p:sp>
      <p:sp>
        <p:nvSpPr>
          <p:cNvPr id="28" name="Shape 18"/>
          <p:cNvSpPr/>
          <p:nvPr/>
        </p:nvSpPr>
        <p:spPr>
          <a:xfrm>
            <a:off x="6537960" y="363016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685032"/>
            <a:ext cx="128016" cy="12801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858000" y="35478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Activation API integration (already wire-compatible)</a:t>
            </a:r>
            <a:endParaRPr lang="en-US" sz="1200" dirty="0"/>
          </a:p>
        </p:txBody>
      </p:sp>
      <p:sp>
        <p:nvSpPr>
          <p:cNvPr id="31" name="Shape 20"/>
          <p:cNvSpPr/>
          <p:nvPr/>
        </p:nvSpPr>
        <p:spPr>
          <a:xfrm>
            <a:off x="6537960" y="417880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33672"/>
            <a:ext cx="128016" cy="12801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858000" y="409651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ClickHouse for events archive + replay</a:t>
            </a:r>
            <a:endParaRPr lang="en-US" sz="1200" dirty="0"/>
          </a:p>
        </p:txBody>
      </p:sp>
      <p:sp>
        <p:nvSpPr>
          <p:cNvPr id="34" name="Shape 22"/>
          <p:cNvSpPr/>
          <p:nvPr/>
        </p:nvSpPr>
        <p:spPr>
          <a:xfrm>
            <a:off x="6537960" y="472744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4782312"/>
            <a:ext cx="128016" cy="128016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6858000" y="464515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 or Drools for richer rule expressions (sandbox-safe)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537960" y="5276088"/>
            <a:ext cx="219456" cy="2194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3680" y="5330952"/>
            <a:ext cx="128016" cy="12801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858000" y="51937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Pluggable destination registry: any webhook or in-app SDK</a:t>
            </a:r>
            <a:endParaRPr lang="en-US" sz="1200" dirty="0"/>
          </a:p>
        </p:txBody>
      </p:sp>
      <p:sp>
        <p:nvSpPr>
          <p:cNvPr id="40" name="Shape 26"/>
          <p:cNvSpPr/>
          <p:nvPr/>
        </p:nvSpPr>
        <p:spPr>
          <a:xfrm>
            <a:off x="548640" y="6126480"/>
            <a:ext cx="1120140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6199632"/>
            <a:ext cx="457200" cy="457200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1371600" y="6126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AI-native automation substrate. Same engine, every event, every customer.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Realtime Events AI Triggers</dc:title>
  <dc:subject>PptxGenJS Presentation</dc:subject>
  <dc:creator>Kuldeep Kumar</dc:creator>
  <cp:lastModifiedBy>Kuldeep Kumar</cp:lastModifiedBy>
  <cp:revision>1</cp:revision>
  <dcterms:created xsi:type="dcterms:W3CDTF">2026-05-08T05:52:57Z</dcterms:created>
  <dcterms:modified xsi:type="dcterms:W3CDTF">2026-05-08T05:52:57Z</dcterms:modified>
</cp:coreProperties>
</file>